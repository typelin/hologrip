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1" r:id="rId6"/>
    <p:sldId id="259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187D55-B2F1-4C05-93D2-1C99A50F1927}" type="datetimeFigureOut">
              <a:rPr lang="zh-TW" altLang="en-US" smtClean="0"/>
              <a:t>2026/9/18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708750-47F5-4D81-978F-E8EB57EF68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8772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708750-47F5-4D81-978F-E8EB57EF6804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7452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A689FD-67A2-E5F9-76DD-B5AE3DCBC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3E42B04-7F3F-6F10-74F8-5E37DA1D4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72A2523-F6F9-D460-3883-8BE4A460F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DF95A-66DA-4D2B-9C1F-9E4734FD1FA1}" type="datetimeFigureOut">
              <a:rPr lang="zh-TW" altLang="en-US" smtClean="0"/>
              <a:t>2026/9/18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0CD1B0C-2897-A0E0-4648-53E3ED3C1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E103F7B-D116-C73C-5357-A4359D1B1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6651F-103E-4A9D-BD26-A48C5B9550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823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7A15C6-2197-B7AE-2E90-051CCA87D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9F75CD-A64E-FE71-FD56-B752BB693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2174225-81D2-90C1-6135-C6B0D6F5E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DF95A-66DA-4D2B-9C1F-9E4734FD1FA1}" type="datetimeFigureOut">
              <a:rPr lang="zh-TW" altLang="en-US" smtClean="0"/>
              <a:t>2026/9/18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540DA7F-8AC1-FC17-5757-8865A99A0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B52C1B7-9B00-CADF-8BA4-0BDB13CC7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6651F-103E-4A9D-BD26-A48C5B9550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125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736307-A669-B357-EEB0-C6F312CA5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DBE663D-EE48-9172-21B2-71A63AF11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ABC2B3-4F6F-08AD-105F-FD367EF7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DF95A-66DA-4D2B-9C1F-9E4734FD1FA1}" type="datetimeFigureOut">
              <a:rPr lang="zh-TW" altLang="en-US" smtClean="0"/>
              <a:t>2026/9/18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4775095-4087-B5F2-C6FB-03C1CB9A3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C400928-F34E-546F-BEEA-F0E5984C3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6651F-103E-4A9D-BD26-A48C5B9550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6640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CE0DC3-0437-4E46-7EA0-09DB77A2E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A15ABB8-5FB9-CB78-F6DA-E6D31B25FD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A0730CE-F69C-2505-0F14-5BE31C9F5C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3729566-197B-9C8F-0234-72C47A09C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DF95A-66DA-4D2B-9C1F-9E4734FD1FA1}" type="datetimeFigureOut">
              <a:rPr lang="zh-TW" altLang="en-US" smtClean="0"/>
              <a:t>2026/9/18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B819A24-392B-A6AE-4453-A0D41C383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9F473B5-4E41-F2BE-E34A-82C3DABE5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6651F-103E-4A9D-BD26-A48C5B9550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016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E4852F-6929-DA23-D86D-674B6AC0A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3FD761-32E6-AB74-4352-49DBD973C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838A9EB-876E-93CB-6C83-7B2286A51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C7F45A0-8644-14CE-27AA-AD1C4183A7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3DEE330-3994-C70D-929A-CFA469EA5D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1A58854-B5E3-0EC9-2161-DE7679284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DF95A-66DA-4D2B-9C1F-9E4734FD1FA1}" type="datetimeFigureOut">
              <a:rPr lang="zh-TW" altLang="en-US" smtClean="0"/>
              <a:t>2026/9/18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8A66C01-14D5-43D8-8AD6-4BBBBB6A2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0E0C032-76E8-4DC2-447D-141594F69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6651F-103E-4A9D-BD26-A48C5B9550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6450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D556CF-C06E-B76E-4FE0-BAE7DD993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30D0CCC-401F-8064-CAB8-806E8B585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DF95A-66DA-4D2B-9C1F-9E4734FD1FA1}" type="datetimeFigureOut">
              <a:rPr lang="zh-TW" altLang="en-US" smtClean="0"/>
              <a:t>2026/9/18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DC469BF-5538-16D9-E863-3DF47A569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B22B220-8048-B40F-7DBC-1EE7235EE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6651F-103E-4A9D-BD26-A48C5B9550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4104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FEF0382-58B4-A486-2214-8D439410E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DF95A-66DA-4D2B-9C1F-9E4734FD1FA1}" type="datetimeFigureOut">
              <a:rPr lang="zh-TW" altLang="en-US" smtClean="0"/>
              <a:t>2026/9/18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3C25DC5-3B0E-2A08-DE4A-1AD572695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952144-A237-FBCA-32A0-C02899216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6651F-103E-4A9D-BD26-A48C5B9550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5671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0585D0-EDF1-D396-DA45-F20DFB9BD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277B764-35E0-5C5F-F762-0E1E17B30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1BD5605-66E4-DE62-C01C-8053BE39D2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979BD17-DBD6-3A11-56FD-626E611FF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DF95A-66DA-4D2B-9C1F-9E4734FD1FA1}" type="datetimeFigureOut">
              <a:rPr lang="zh-TW" altLang="en-US" smtClean="0"/>
              <a:t>2026/9/18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E466CF1-8272-9B56-2497-F5EAA2E55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458AA28-09C5-B194-729D-4488269A4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6651F-103E-4A9D-BD26-A48C5B9550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4540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3A3948-D6B0-EE12-7276-A3B124A9B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B7CC004-D42F-B50A-5D1A-569B77ACFF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3A344AA-D563-E58B-EF42-63548A0E36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2E6F42C-6269-1204-150B-3F1328420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DF95A-66DA-4D2B-9C1F-9E4734FD1FA1}" type="datetimeFigureOut">
              <a:rPr lang="zh-TW" altLang="en-US" smtClean="0"/>
              <a:t>2026/9/18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21B7266-DAA3-133A-2997-598C802F8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B279B28-B218-347F-E0F9-893157AEC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6651F-103E-4A9D-BD26-A48C5B9550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243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005842-F83D-7E92-3FAD-EBC313D7E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5844EF9-3F0F-508D-E7A3-5A31B859B5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03208E-F730-311A-5458-5FDD66417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DF95A-66DA-4D2B-9C1F-9E4734FD1FA1}" type="datetimeFigureOut">
              <a:rPr lang="zh-TW" altLang="en-US" smtClean="0"/>
              <a:t>2026/9/18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E726951-6649-5CB1-2DFF-CD0CA1ECD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8C32898-A5FB-06C1-2E30-C01D5B95C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6651F-103E-4A9D-BD26-A48C5B9550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7318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A6C2F35-2A2B-BBF3-B770-06F628B9B4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99A02BA-41A6-5471-DEAC-EDE80F636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B901A6-F959-6907-BE06-2C3473A6D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DF95A-66DA-4D2B-9C1F-9E4734FD1FA1}" type="datetimeFigureOut">
              <a:rPr lang="zh-TW" altLang="en-US" smtClean="0"/>
              <a:t>2026/9/18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BED26DC-207C-05C9-2F4D-E44D676E8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363B1EC-351C-8E9B-4919-4367B8C1F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6651F-103E-4A9D-BD26-A48C5B9550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8663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4B76FF0-2295-2263-204E-A042761C2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4C7E7E1-F500-F821-437B-9F4EE166F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E38D2-DEAB-DEC0-DE03-A405BCA251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6DF95A-66DA-4D2B-9C1F-9E4734FD1FA1}" type="datetimeFigureOut">
              <a:rPr lang="zh-TW" altLang="en-US" smtClean="0"/>
              <a:t>2026/9/18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8EA801C-71C1-51C0-1560-3EAE74BE62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DDC8E0-7ABE-1DDA-F06A-BA0C9743C6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66651F-103E-4A9D-BD26-A48C5B9550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7602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172853DB-A48B-AED8-F5E5-A92B06DB6CAD}"/>
              </a:ext>
            </a:extLst>
          </p:cNvPr>
          <p:cNvSpPr txBox="1"/>
          <p:nvPr/>
        </p:nvSpPr>
        <p:spPr>
          <a:xfrm>
            <a:off x="1867917" y="669234"/>
            <a:ext cx="84561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600" dirty="0"/>
              <a:t>關於</a:t>
            </a:r>
            <a:r>
              <a:rPr lang="en-US" altLang="zh-TW" sz="3600" dirty="0" err="1"/>
              <a:t>HoloGrip</a:t>
            </a:r>
            <a:r>
              <a:rPr lang="zh-TW" altLang="en-US" sz="3600" dirty="0"/>
              <a:t>現場資料收集分工及檢查表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8D8B413-7268-59A4-646D-D196E0BB51B8}"/>
              </a:ext>
            </a:extLst>
          </p:cNvPr>
          <p:cNvSpPr txBox="1"/>
          <p:nvPr/>
        </p:nvSpPr>
        <p:spPr>
          <a:xfrm>
            <a:off x="4890051" y="3955200"/>
            <a:ext cx="24118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9</a:t>
            </a:r>
            <a:r>
              <a:rPr lang="zh-TW" altLang="en-US" sz="3600" dirty="0"/>
              <a:t>月</a:t>
            </a:r>
            <a:r>
              <a:rPr lang="en-US" altLang="zh-TW" sz="3600" dirty="0"/>
              <a:t>17</a:t>
            </a:r>
            <a:r>
              <a:rPr lang="zh-TW" altLang="en-US" sz="3600" dirty="0"/>
              <a:t>版本</a:t>
            </a:r>
          </a:p>
        </p:txBody>
      </p:sp>
    </p:spTree>
    <p:extLst>
      <p:ext uri="{BB962C8B-B14F-4D97-AF65-F5344CB8AC3E}">
        <p14:creationId xmlns:p14="http://schemas.microsoft.com/office/powerpoint/2010/main" val="1240035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C57BF63-512C-0B69-D228-35C939117CC0}"/>
              </a:ext>
            </a:extLst>
          </p:cNvPr>
          <p:cNvSpPr txBox="1"/>
          <p:nvPr/>
        </p:nvSpPr>
        <p:spPr>
          <a:xfrm>
            <a:off x="0" y="0"/>
            <a:ext cx="6765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/>
              <a:t>事前準備清單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BE6F436-FDA0-9C6F-B74D-C5EB8858E2C7}"/>
              </a:ext>
            </a:extLst>
          </p:cNvPr>
          <p:cNvSpPr txBox="1"/>
          <p:nvPr/>
        </p:nvSpPr>
        <p:spPr>
          <a:xfrm>
            <a:off x="0" y="646331"/>
            <a:ext cx="12192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/>
              <a:t>流音系同學</a:t>
            </a:r>
            <a:r>
              <a:rPr lang="en-US" altLang="zh-TW" sz="2400" dirty="0"/>
              <a:t>-</a:t>
            </a:r>
            <a:r>
              <a:rPr lang="zh-TW" altLang="en-US" sz="2400" dirty="0"/>
              <a:t>需要攜帶</a:t>
            </a:r>
            <a:r>
              <a:rPr lang="en-US" altLang="zh-TW" sz="2400" dirty="0"/>
              <a:t>/</a:t>
            </a:r>
            <a:r>
              <a:rPr lang="zh-TW" altLang="en-US" sz="2400" dirty="0"/>
              <a:t>提供：</a:t>
            </a:r>
            <a:endParaRPr lang="en-US" altLang="zh-TW" sz="2400" dirty="0"/>
          </a:p>
          <a:p>
            <a:r>
              <a:rPr lang="en-US" altLang="zh-TW" sz="2400" dirty="0"/>
              <a:t>	1.</a:t>
            </a:r>
            <a:r>
              <a:rPr lang="zh-TW" altLang="en-US" sz="2400" dirty="0">
                <a:highlight>
                  <a:srgbClr val="FFFF00"/>
                </a:highlight>
              </a:rPr>
              <a:t>一台電腦</a:t>
            </a:r>
            <a:r>
              <a:rPr lang="zh-TW" altLang="en-US" sz="2400" dirty="0"/>
              <a:t>，能夠使用音樂軟體，需要在現場收集並排查</a:t>
            </a:r>
            <a:r>
              <a:rPr lang="en-US" altLang="zh-TW" sz="2400" dirty="0"/>
              <a:t>midi</a:t>
            </a:r>
            <a:r>
              <a:rPr lang="zh-TW" altLang="en-US" sz="2400" dirty="0"/>
              <a:t>異常鼓點。</a:t>
            </a:r>
            <a:endParaRPr lang="en-US" altLang="zh-TW" sz="2400" dirty="0"/>
          </a:p>
          <a:p>
            <a:r>
              <a:rPr lang="en-US" altLang="zh-TW" sz="2400" dirty="0"/>
              <a:t>	2.</a:t>
            </a:r>
            <a:r>
              <a:rPr lang="zh-TW" altLang="en-US" sz="2400" dirty="0">
                <a:highlight>
                  <a:srgbClr val="FFFF00"/>
                </a:highlight>
              </a:rPr>
              <a:t>電子股連接電腦線材</a:t>
            </a:r>
            <a:r>
              <a:rPr lang="zh-TW" altLang="en-US" sz="2400" dirty="0"/>
              <a:t>。</a:t>
            </a:r>
            <a:endParaRPr lang="en-US" altLang="zh-TW" sz="2400" dirty="0"/>
          </a:p>
          <a:p>
            <a:r>
              <a:rPr lang="en-US" altLang="zh-TW" sz="2400" dirty="0"/>
              <a:t>	3.</a:t>
            </a:r>
            <a:r>
              <a:rPr lang="zh-TW" altLang="en-US" sz="2400" dirty="0">
                <a:highlight>
                  <a:srgbClr val="FFFF00"/>
                </a:highlight>
              </a:rPr>
              <a:t>電子鼓的電源線</a:t>
            </a:r>
            <a:r>
              <a:rPr lang="zh-TW" altLang="en-US" sz="2400" dirty="0"/>
              <a:t>。</a:t>
            </a:r>
            <a:br>
              <a:rPr lang="en-US" altLang="zh-TW" sz="2400" dirty="0">
                <a:highlight>
                  <a:srgbClr val="FFFF00"/>
                </a:highlight>
              </a:rPr>
            </a:br>
            <a:r>
              <a:rPr lang="en-US" altLang="zh-TW" sz="2400" dirty="0"/>
              <a:t>	4.</a:t>
            </a:r>
            <a:r>
              <a:rPr lang="zh-TW" altLang="en-US" sz="2400" dirty="0">
                <a:highlight>
                  <a:srgbClr val="FFFF00"/>
                </a:highlight>
              </a:rPr>
              <a:t>一台</a:t>
            </a:r>
            <a:r>
              <a:rPr lang="en-US" altLang="zh-TW" sz="2400" dirty="0" err="1">
                <a:highlight>
                  <a:srgbClr val="FFFF00"/>
                </a:highlight>
              </a:rPr>
              <a:t>IPhone</a:t>
            </a:r>
            <a:r>
              <a:rPr lang="zh-TW" altLang="en-US" sz="2400" dirty="0">
                <a:highlight>
                  <a:srgbClr val="FFFF00"/>
                </a:highlight>
              </a:rPr>
              <a:t>攝影機</a:t>
            </a:r>
            <a:r>
              <a:rPr lang="zh-TW" altLang="en-US" sz="2400" dirty="0"/>
              <a:t>，用於錄影記錄現場打鼓情況，供後續標記資料使用。</a:t>
            </a:r>
            <a:endParaRPr lang="en-US" altLang="zh-TW" sz="2400" dirty="0"/>
          </a:p>
          <a:p>
            <a:endParaRPr lang="en-US" altLang="zh-TW" sz="2400" dirty="0"/>
          </a:p>
          <a:p>
            <a:r>
              <a:rPr lang="en-US" altLang="zh-TW" sz="2400" dirty="0"/>
              <a:t>	</a:t>
            </a:r>
            <a:r>
              <a:rPr lang="zh-TW" altLang="en-US" sz="2400" dirty="0"/>
              <a:t>資料收集後：</a:t>
            </a:r>
            <a:endParaRPr lang="en-US" altLang="zh-TW" sz="2400" dirty="0"/>
          </a:p>
          <a:p>
            <a:r>
              <a:rPr lang="en-US" altLang="zh-TW" sz="2400" dirty="0"/>
              <a:t>	5.</a:t>
            </a:r>
            <a:r>
              <a:rPr lang="en-US" altLang="zh-TW" sz="2400" dirty="0">
                <a:highlight>
                  <a:srgbClr val="FFFF00"/>
                </a:highlight>
              </a:rPr>
              <a:t>MIDI</a:t>
            </a:r>
            <a:r>
              <a:rPr lang="zh-TW" altLang="en-US" sz="2400" dirty="0">
                <a:highlight>
                  <a:srgbClr val="FFFF00"/>
                </a:highlight>
              </a:rPr>
              <a:t>檔案</a:t>
            </a:r>
            <a:r>
              <a:rPr lang="zh-TW" altLang="en-US" sz="2400" dirty="0"/>
              <a:t>，現場交付 檢查異常點。</a:t>
            </a:r>
            <a:endParaRPr lang="en-US" altLang="zh-TW" sz="2400" dirty="0"/>
          </a:p>
          <a:p>
            <a:r>
              <a:rPr lang="en-US" altLang="zh-TW" sz="2400" dirty="0"/>
              <a:t>	6.</a:t>
            </a:r>
            <a:r>
              <a:rPr lang="zh-TW" altLang="en-US" sz="2400" dirty="0">
                <a:highlight>
                  <a:srgbClr val="FFFF00"/>
                </a:highlight>
              </a:rPr>
              <a:t>錄影檔案</a:t>
            </a:r>
            <a:r>
              <a:rPr lang="zh-TW" altLang="en-US" sz="2400" dirty="0"/>
              <a:t>，可事後提供錄影檔案，最好使用雲端硬碟方式傳送。</a:t>
            </a:r>
            <a:br>
              <a:rPr lang="en-US" altLang="zh-TW" sz="2400" dirty="0"/>
            </a:br>
            <a:br>
              <a:rPr lang="en-US" altLang="zh-TW" sz="2400" dirty="0"/>
            </a:br>
            <a:r>
              <a:rPr lang="zh-TW" altLang="en-US" sz="2400" dirty="0"/>
              <a:t>電子系</a:t>
            </a:r>
            <a:r>
              <a:rPr lang="en-US" altLang="zh-TW" sz="2400" dirty="0"/>
              <a:t>(</a:t>
            </a:r>
            <a:r>
              <a:rPr lang="zh-TW" altLang="en-US" sz="2400" dirty="0"/>
              <a:t>我們</a:t>
            </a:r>
            <a:r>
              <a:rPr lang="en-US" altLang="zh-TW" sz="2400" dirty="0"/>
              <a:t>) -</a:t>
            </a:r>
            <a:r>
              <a:rPr lang="zh-TW" altLang="en-US" sz="2400" dirty="0"/>
              <a:t>需要攜帶</a:t>
            </a:r>
            <a:r>
              <a:rPr lang="en-US" altLang="zh-TW" sz="2400" dirty="0"/>
              <a:t>/</a:t>
            </a:r>
            <a:r>
              <a:rPr lang="zh-TW" altLang="en-US" sz="2400" dirty="0"/>
              <a:t>提供：</a:t>
            </a:r>
            <a:endParaRPr lang="en-US" altLang="zh-TW" sz="2400" dirty="0"/>
          </a:p>
          <a:p>
            <a:r>
              <a:rPr lang="en-US" altLang="zh-TW" sz="2400" dirty="0"/>
              <a:t>	1.</a:t>
            </a:r>
            <a:r>
              <a:rPr lang="zh-TW" altLang="en-US" sz="2400" dirty="0">
                <a:highlight>
                  <a:srgbClr val="FFFF00"/>
                </a:highlight>
              </a:rPr>
              <a:t>左右手套一副</a:t>
            </a:r>
            <a:r>
              <a:rPr lang="zh-TW" altLang="en-US" sz="2400" dirty="0"/>
              <a:t>，資料收集。</a:t>
            </a:r>
            <a:endParaRPr lang="en-US" altLang="zh-TW" sz="2400" dirty="0"/>
          </a:p>
          <a:p>
            <a:r>
              <a:rPr lang="en-US" altLang="zh-TW" sz="2400" dirty="0"/>
              <a:t>	2.</a:t>
            </a:r>
            <a:r>
              <a:rPr lang="en-US" altLang="zh-TW" sz="2400" dirty="0">
                <a:highlight>
                  <a:srgbClr val="FFFF00"/>
                </a:highlight>
              </a:rPr>
              <a:t>3</a:t>
            </a:r>
            <a:r>
              <a:rPr lang="zh-TW" altLang="en-US" sz="2400" dirty="0">
                <a:highlight>
                  <a:srgbClr val="FFFF00"/>
                </a:highlight>
              </a:rPr>
              <a:t>米</a:t>
            </a:r>
            <a:r>
              <a:rPr lang="en-US" altLang="zh-TW" sz="2400" dirty="0">
                <a:highlight>
                  <a:srgbClr val="FFFF00"/>
                </a:highlight>
              </a:rPr>
              <a:t>Type-C</a:t>
            </a:r>
            <a:r>
              <a:rPr lang="zh-TW" altLang="en-US" sz="2400" dirty="0">
                <a:highlight>
                  <a:srgbClr val="FFFF00"/>
                </a:highlight>
              </a:rPr>
              <a:t>資料線</a:t>
            </a:r>
            <a:r>
              <a:rPr lang="en-US" altLang="zh-TW" sz="2400" dirty="0">
                <a:highlight>
                  <a:srgbClr val="FFFF00"/>
                </a:highlight>
              </a:rPr>
              <a:t>2</a:t>
            </a:r>
            <a:r>
              <a:rPr lang="zh-TW" altLang="en-US" sz="2400" dirty="0">
                <a:highlight>
                  <a:srgbClr val="FFFF00"/>
                </a:highlight>
              </a:rPr>
              <a:t>條</a:t>
            </a:r>
            <a:r>
              <a:rPr lang="zh-TW" altLang="en-US" sz="2400" dirty="0"/>
              <a:t>，資料傳輸。</a:t>
            </a:r>
            <a:br>
              <a:rPr lang="en-US" altLang="zh-TW" sz="2400" dirty="0"/>
            </a:br>
            <a:r>
              <a:rPr lang="en-US" altLang="zh-TW" sz="2400" dirty="0"/>
              <a:t>	3.</a:t>
            </a:r>
            <a:r>
              <a:rPr lang="zh-TW" altLang="en-US" sz="2400" dirty="0">
                <a:highlight>
                  <a:srgbClr val="FFFF00"/>
                </a:highlight>
              </a:rPr>
              <a:t>一台電腦</a:t>
            </a:r>
            <a:r>
              <a:rPr lang="zh-TW" altLang="en-US" sz="2400" dirty="0"/>
              <a:t>，用於收集原始</a:t>
            </a:r>
            <a:r>
              <a:rPr lang="en-US" altLang="zh-TW" sz="2400" dirty="0"/>
              <a:t>CSV</a:t>
            </a:r>
            <a:r>
              <a:rPr lang="zh-TW" altLang="en-US" sz="2400" dirty="0"/>
              <a:t>檔案</a:t>
            </a:r>
            <a:endParaRPr lang="en-US" altLang="zh-TW" sz="2400" dirty="0"/>
          </a:p>
          <a:p>
            <a:r>
              <a:rPr lang="en-US" altLang="zh-TW" sz="2400" dirty="0"/>
              <a:t>	</a:t>
            </a:r>
            <a:r>
              <a:rPr lang="zh-TW" altLang="en-US" sz="2400" dirty="0"/>
              <a:t>資料收集後：</a:t>
            </a:r>
            <a:br>
              <a:rPr lang="en-US" altLang="zh-TW" sz="2400" dirty="0"/>
            </a:br>
            <a:r>
              <a:rPr lang="en-US" altLang="zh-TW" sz="2400" dirty="0"/>
              <a:t>	4.</a:t>
            </a:r>
            <a:r>
              <a:rPr lang="zh-TW" altLang="en-US" sz="2400" dirty="0">
                <a:highlight>
                  <a:srgbClr val="FFFF00"/>
                </a:highlight>
              </a:rPr>
              <a:t>原始</a:t>
            </a:r>
            <a:r>
              <a:rPr lang="en-US" altLang="zh-TW" sz="2400" dirty="0">
                <a:highlight>
                  <a:srgbClr val="FFFF00"/>
                </a:highlight>
              </a:rPr>
              <a:t>CSV</a:t>
            </a:r>
            <a:r>
              <a:rPr lang="zh-TW" altLang="en-US" sz="2400" dirty="0">
                <a:highlight>
                  <a:srgbClr val="FFFF00"/>
                </a:highlight>
              </a:rPr>
              <a:t>檔案</a:t>
            </a:r>
            <a:r>
              <a:rPr lang="zh-TW" altLang="en-US" sz="24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964194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C57BF63-512C-0B69-D228-35C939117CC0}"/>
              </a:ext>
            </a:extLst>
          </p:cNvPr>
          <p:cNvSpPr txBox="1"/>
          <p:nvPr/>
        </p:nvSpPr>
        <p:spPr>
          <a:xfrm>
            <a:off x="0" y="0"/>
            <a:ext cx="6765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/>
              <a:t>大致流程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BE6F436-FDA0-9C6F-B74D-C5EB8858E2C7}"/>
              </a:ext>
            </a:extLst>
          </p:cNvPr>
          <p:cNvSpPr txBox="1"/>
          <p:nvPr/>
        </p:nvSpPr>
        <p:spPr>
          <a:xfrm>
            <a:off x="0" y="712592"/>
            <a:ext cx="12192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/>
              <a:t>目標：</a:t>
            </a:r>
            <a:br>
              <a:rPr lang="en-US" altLang="zh-TW" sz="2400" dirty="0"/>
            </a:br>
            <a:r>
              <a:rPr lang="en-US" altLang="zh-TW" sz="2400" dirty="0"/>
              <a:t>	0.</a:t>
            </a:r>
            <a:r>
              <a:rPr lang="zh-TW" altLang="en-US" sz="2400" dirty="0"/>
              <a:t>前置作業：架設錄影機、確認</a:t>
            </a:r>
            <a:r>
              <a:rPr lang="en-US" altLang="zh-TW" sz="2400" dirty="0"/>
              <a:t>MIDI</a:t>
            </a:r>
            <a:r>
              <a:rPr lang="zh-TW" altLang="en-US" sz="2400" dirty="0"/>
              <a:t>接收，手套硬體接收。</a:t>
            </a:r>
            <a:endParaRPr lang="en-US" altLang="zh-TW" sz="2400" dirty="0"/>
          </a:p>
          <a:p>
            <a:r>
              <a:rPr lang="en-US" altLang="zh-TW" sz="2400" dirty="0"/>
              <a:t>	</a:t>
            </a:r>
            <a:br>
              <a:rPr lang="en-US" altLang="zh-TW" sz="2400" dirty="0"/>
            </a:br>
            <a:r>
              <a:rPr lang="en-US" altLang="zh-TW" sz="2400" dirty="0"/>
              <a:t>	1.</a:t>
            </a:r>
            <a:r>
              <a:rPr lang="zh-TW" altLang="en-US" sz="2400" dirty="0"/>
              <a:t>完成上一次模型的測試，並記錄</a:t>
            </a:r>
            <a:r>
              <a:rPr lang="en-US" altLang="zh-TW" sz="2400" dirty="0"/>
              <a:t>100HZ CSV LOG</a:t>
            </a:r>
            <a:r>
              <a:rPr lang="zh-TW" altLang="en-US" sz="2400" dirty="0"/>
              <a:t>。</a:t>
            </a:r>
            <a:r>
              <a:rPr lang="en-US" altLang="zh-TW" sz="2400" dirty="0"/>
              <a:t>	</a:t>
            </a:r>
          </a:p>
          <a:p>
            <a:endParaRPr lang="en-US" altLang="zh-TW" sz="2400" dirty="0"/>
          </a:p>
          <a:p>
            <a:r>
              <a:rPr lang="en-US" altLang="zh-TW" sz="2400" dirty="0"/>
              <a:t>	</a:t>
            </a:r>
            <a:r>
              <a:rPr lang="zh-TW" altLang="en-US" sz="2400" dirty="0"/>
              <a:t>打一次慢到快</a:t>
            </a:r>
            <a:r>
              <a:rPr lang="en-US" altLang="zh-TW" sz="2400" dirty="0"/>
              <a:t>MIDI(</a:t>
            </a:r>
            <a:r>
              <a:rPr lang="zh-TW" altLang="en-US" sz="2400" dirty="0"/>
              <a:t>額外選項 不一定每次都要</a:t>
            </a:r>
            <a:r>
              <a:rPr lang="en-US" altLang="zh-TW" sz="2400" dirty="0"/>
              <a:t>)</a:t>
            </a:r>
          </a:p>
          <a:p>
            <a:r>
              <a:rPr lang="en-US" altLang="zh-TW" sz="2400" dirty="0"/>
              <a:t>	</a:t>
            </a:r>
          </a:p>
          <a:p>
            <a:r>
              <a:rPr lang="en-US" altLang="zh-TW" sz="2400" dirty="0"/>
              <a:t>	2.</a:t>
            </a:r>
            <a:r>
              <a:rPr lang="zh-TW" altLang="en-US" sz="2400" dirty="0"/>
              <a:t>蒐集本次的</a:t>
            </a:r>
            <a:r>
              <a:rPr lang="en-US" altLang="zh-TW" sz="2400" dirty="0"/>
              <a:t>MIDI</a:t>
            </a:r>
            <a:r>
              <a:rPr lang="zh-TW" altLang="en-US" sz="2400" dirty="0"/>
              <a:t>歌曲檔案</a:t>
            </a:r>
            <a:r>
              <a:rPr lang="en-US" altLang="zh-TW" sz="2400" dirty="0"/>
              <a:t>+100HZ</a:t>
            </a:r>
            <a:r>
              <a:rPr lang="zh-TW" altLang="en-US" sz="2400" dirty="0"/>
              <a:t> </a:t>
            </a:r>
            <a:r>
              <a:rPr lang="en-US" altLang="zh-TW" sz="2400" dirty="0"/>
              <a:t>CSV</a:t>
            </a:r>
            <a:r>
              <a:rPr lang="zh-TW" altLang="en-US" sz="2400" dirty="0"/>
              <a:t>，歌曲中盡量出現</a:t>
            </a:r>
            <a:r>
              <a:rPr lang="zh-TW" altLang="en-US" sz="2400" dirty="0">
                <a:highlight>
                  <a:srgbClr val="FFFF00"/>
                </a:highlight>
              </a:rPr>
              <a:t>每一個打擊的股點</a:t>
            </a:r>
            <a:r>
              <a:rPr lang="zh-TW" altLang="en-US" sz="2400" dirty="0"/>
              <a:t>，</a:t>
            </a:r>
            <a:r>
              <a:rPr lang="en-US" altLang="zh-TW" sz="2400" dirty="0"/>
              <a:t>	</a:t>
            </a:r>
            <a:r>
              <a:rPr lang="zh-TW" altLang="en-US" sz="2400" dirty="0">
                <a:highlight>
                  <a:srgbClr val="FFFF00"/>
                </a:highlight>
              </a:rPr>
              <a:t>左右手都要</a:t>
            </a:r>
            <a:r>
              <a:rPr lang="zh-TW" altLang="en-US" sz="2400" dirty="0"/>
              <a:t>打到</a:t>
            </a:r>
            <a:r>
              <a:rPr lang="en-US" altLang="zh-TW" sz="2400" dirty="0"/>
              <a:t>(</a:t>
            </a:r>
            <a:r>
              <a:rPr lang="zh-TW" altLang="en-US" sz="2400" dirty="0"/>
              <a:t>需要先提供</a:t>
            </a:r>
            <a:r>
              <a:rPr lang="en-US" altLang="zh-TW" sz="2400" dirty="0"/>
              <a:t>MIDI</a:t>
            </a:r>
            <a:r>
              <a:rPr lang="zh-TW" altLang="en-US" sz="2400" dirty="0"/>
              <a:t>對照表 和本次的歌曲</a:t>
            </a:r>
            <a:r>
              <a:rPr lang="en-US" altLang="zh-TW" sz="2400" dirty="0"/>
              <a:t>BPM)</a:t>
            </a:r>
            <a:br>
              <a:rPr lang="en-US" altLang="zh-TW" sz="2400" dirty="0"/>
            </a:br>
            <a:br>
              <a:rPr lang="en-US" altLang="zh-TW" sz="2400" dirty="0"/>
            </a:br>
            <a:r>
              <a:rPr lang="en-US" altLang="zh-TW" sz="2400" dirty="0"/>
              <a:t>	3.</a:t>
            </a:r>
            <a:r>
              <a:rPr lang="zh-TW" altLang="en-US" sz="2400" dirty="0"/>
              <a:t>蒐集完成後，現場檢查編輯</a:t>
            </a:r>
            <a:r>
              <a:rPr lang="en-US" altLang="zh-TW" sz="2400" dirty="0"/>
              <a:t>MIDI</a:t>
            </a:r>
            <a:r>
              <a:rPr lang="zh-TW" altLang="en-US" sz="2400" dirty="0"/>
              <a:t>檔案，並給我們前端二次檢查。重複行為直到當</a:t>
            </a:r>
            <a:r>
              <a:rPr lang="en-US" altLang="zh-TW" sz="2400" dirty="0"/>
              <a:t>	</a:t>
            </a:r>
            <a:r>
              <a:rPr lang="zh-TW" altLang="en-US" sz="2400" dirty="0"/>
              <a:t>當天資料收集 完畢。</a:t>
            </a:r>
            <a:endParaRPr lang="en-US" altLang="zh-TW" sz="2400" dirty="0"/>
          </a:p>
          <a:p>
            <a:endParaRPr lang="en-US" altLang="zh-TW" sz="2400" dirty="0"/>
          </a:p>
          <a:p>
            <a:r>
              <a:rPr lang="en-US" altLang="zh-TW" sz="2400" dirty="0"/>
              <a:t>	4.</a:t>
            </a:r>
            <a:r>
              <a:rPr lang="zh-TW" altLang="en-US" sz="2400" dirty="0"/>
              <a:t>根據</a:t>
            </a:r>
            <a:r>
              <a:rPr lang="en-US" altLang="zh-TW" sz="2400" dirty="0"/>
              <a:t>MIDI</a:t>
            </a:r>
            <a:r>
              <a:rPr lang="zh-TW" altLang="en-US" sz="2400" dirty="0"/>
              <a:t>檔案標記</a:t>
            </a:r>
            <a:r>
              <a:rPr lang="en-US" altLang="zh-TW" sz="2400" dirty="0"/>
              <a:t>CSV</a:t>
            </a:r>
            <a:r>
              <a:rPr lang="zh-TW" altLang="en-US" sz="2400" dirty="0"/>
              <a:t>、訓練模型，等待下一次人員測試驗證。</a:t>
            </a:r>
          </a:p>
        </p:txBody>
      </p:sp>
    </p:spTree>
    <p:extLst>
      <p:ext uri="{BB962C8B-B14F-4D97-AF65-F5344CB8AC3E}">
        <p14:creationId xmlns:p14="http://schemas.microsoft.com/office/powerpoint/2010/main" val="2629862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C57BF63-512C-0B69-D228-35C939117CC0}"/>
              </a:ext>
            </a:extLst>
          </p:cNvPr>
          <p:cNvSpPr txBox="1"/>
          <p:nvPr/>
        </p:nvSpPr>
        <p:spPr>
          <a:xfrm>
            <a:off x="0" y="0"/>
            <a:ext cx="6765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MIDI</a:t>
            </a:r>
            <a:r>
              <a:rPr lang="zh-TW" altLang="en-US" sz="3600" dirty="0"/>
              <a:t>對照表</a:t>
            </a:r>
            <a:r>
              <a:rPr lang="en-US" altLang="zh-TW" sz="3600" dirty="0"/>
              <a:t>(8/5</a:t>
            </a:r>
            <a:r>
              <a:rPr lang="zh-TW" altLang="en-US" sz="3600" dirty="0"/>
              <a:t>更新</a:t>
            </a:r>
            <a:r>
              <a:rPr lang="en-US" altLang="zh-TW" sz="3600" dirty="0"/>
              <a:t>)</a:t>
            </a:r>
            <a:endParaRPr lang="zh-TW" altLang="en-US" sz="36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BE6F436-FDA0-9C6F-B74D-C5EB8858E2C7}"/>
              </a:ext>
            </a:extLst>
          </p:cNvPr>
          <p:cNvSpPr txBox="1"/>
          <p:nvPr/>
        </p:nvSpPr>
        <p:spPr>
          <a:xfrm>
            <a:off x="0" y="1351508"/>
            <a:ext cx="12192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zh-TW" altLang="en-US" sz="2400" b="0" i="0" dirty="0">
                <a:effectLst/>
                <a:latin typeface="inherit"/>
              </a:rPr>
              <a:t>大鼓 </a:t>
            </a:r>
            <a:r>
              <a:rPr lang="en-US" altLang="zh-TW" sz="2400" b="0" i="0" dirty="0">
                <a:effectLst/>
                <a:latin typeface="inherit"/>
              </a:rPr>
              <a:t>(Kick / Bass Drum): 36 (C1)</a:t>
            </a:r>
          </a:p>
          <a:p>
            <a:pPr algn="l" fontAlgn="base"/>
            <a:r>
              <a:rPr lang="zh-TW" altLang="en-US" sz="2400" b="0" i="0" dirty="0">
                <a:effectLst/>
                <a:latin typeface="inherit"/>
              </a:rPr>
              <a:t>小鼓 鼓面 </a:t>
            </a:r>
            <a:r>
              <a:rPr lang="en-US" altLang="zh-TW" sz="2400" b="0" i="0" dirty="0">
                <a:effectLst/>
                <a:latin typeface="inherit"/>
              </a:rPr>
              <a:t>(Snare Head): 38 (D1)</a:t>
            </a:r>
          </a:p>
          <a:p>
            <a:pPr algn="l" fontAlgn="base"/>
            <a:r>
              <a:rPr lang="zh-TW" altLang="en-US" sz="2400" b="0" i="0" dirty="0">
                <a:effectLst/>
                <a:latin typeface="inherit"/>
              </a:rPr>
              <a:t>小鼓 鼓邊 </a:t>
            </a:r>
            <a:r>
              <a:rPr lang="en-US" altLang="zh-TW" sz="2400" b="0" i="0" dirty="0">
                <a:effectLst/>
                <a:latin typeface="inherit"/>
              </a:rPr>
              <a:t>(Snare Rim): 37 (C#1)</a:t>
            </a:r>
          </a:p>
          <a:p>
            <a:pPr algn="l" fontAlgn="base"/>
            <a:r>
              <a:rPr lang="zh-TW" altLang="en-US" sz="2400" b="0" i="0" dirty="0">
                <a:effectLst/>
                <a:latin typeface="inherit"/>
              </a:rPr>
              <a:t>高音 </a:t>
            </a:r>
            <a:r>
              <a:rPr lang="en-US" altLang="zh-TW" sz="2400" b="0" i="0" dirty="0">
                <a:effectLst/>
                <a:latin typeface="inherit"/>
              </a:rPr>
              <a:t>Tom </a:t>
            </a:r>
            <a:r>
              <a:rPr lang="zh-TW" altLang="en-US" sz="2400" b="0" i="0" dirty="0">
                <a:effectLst/>
                <a:latin typeface="inherit"/>
              </a:rPr>
              <a:t>鼓 </a:t>
            </a:r>
            <a:r>
              <a:rPr lang="en-US" altLang="zh-TW" sz="2400" b="0" i="0" dirty="0">
                <a:effectLst/>
                <a:latin typeface="inherit"/>
              </a:rPr>
              <a:t>(Tom 1): 48 (C2)</a:t>
            </a:r>
          </a:p>
          <a:p>
            <a:pPr algn="l" fontAlgn="base"/>
            <a:r>
              <a:rPr lang="zh-TW" altLang="en-US" sz="2400" b="0" i="0" dirty="0">
                <a:effectLst/>
                <a:latin typeface="inherit"/>
              </a:rPr>
              <a:t>中音 </a:t>
            </a:r>
            <a:r>
              <a:rPr lang="en-US" altLang="zh-TW" sz="2400" b="0" i="0" dirty="0">
                <a:effectLst/>
                <a:latin typeface="inherit"/>
              </a:rPr>
              <a:t>Tom </a:t>
            </a:r>
            <a:r>
              <a:rPr lang="zh-TW" altLang="en-US" sz="2400" b="0" i="0" dirty="0">
                <a:effectLst/>
                <a:latin typeface="inherit"/>
              </a:rPr>
              <a:t>鼓 </a:t>
            </a:r>
            <a:r>
              <a:rPr lang="en-US" altLang="zh-TW" sz="2400" b="0" i="0" dirty="0">
                <a:effectLst/>
                <a:latin typeface="inherit"/>
              </a:rPr>
              <a:t>(Tom 2): 45 (A1)</a:t>
            </a:r>
          </a:p>
          <a:p>
            <a:pPr algn="l" fontAlgn="base"/>
            <a:r>
              <a:rPr lang="zh-TW" altLang="en-US" sz="2400" b="0" i="0" dirty="0">
                <a:effectLst/>
                <a:latin typeface="inherit"/>
              </a:rPr>
              <a:t>落地 </a:t>
            </a:r>
            <a:r>
              <a:rPr lang="en-US" altLang="zh-TW" sz="2400" b="0" i="0" dirty="0">
                <a:effectLst/>
                <a:latin typeface="inherit"/>
              </a:rPr>
              <a:t>Tom </a:t>
            </a:r>
            <a:r>
              <a:rPr lang="zh-TW" altLang="en-US" sz="2400" b="0" i="0" dirty="0">
                <a:effectLst/>
                <a:latin typeface="inherit"/>
              </a:rPr>
              <a:t>鼓 </a:t>
            </a:r>
            <a:r>
              <a:rPr lang="en-US" altLang="zh-TW" sz="2400" b="0" i="0" dirty="0">
                <a:effectLst/>
                <a:latin typeface="inherit"/>
              </a:rPr>
              <a:t>(Floor Tom): 43 (G1)</a:t>
            </a:r>
          </a:p>
          <a:p>
            <a:pPr algn="l" fontAlgn="base"/>
            <a:r>
              <a:rPr lang="en-US" altLang="zh-TW" sz="2400" b="0" i="0" dirty="0">
                <a:effectLst/>
                <a:latin typeface="inherit"/>
              </a:rPr>
              <a:t>Hi-Hat </a:t>
            </a:r>
            <a:r>
              <a:rPr lang="zh-TW" altLang="en-US" sz="2400" b="0" i="0" dirty="0">
                <a:effectLst/>
                <a:latin typeface="inherit"/>
              </a:rPr>
              <a:t>鈸面 </a:t>
            </a:r>
            <a:r>
              <a:rPr lang="en-US" altLang="zh-TW" sz="2400" b="0" i="0" dirty="0">
                <a:effectLst/>
                <a:latin typeface="inherit"/>
              </a:rPr>
              <a:t>(Hi-Hat Bow): 46 (A#1)</a:t>
            </a:r>
          </a:p>
          <a:p>
            <a:pPr algn="l" fontAlgn="base"/>
            <a:r>
              <a:rPr lang="en-US" altLang="zh-TW" sz="2400" b="0" i="0" dirty="0">
                <a:effectLst/>
                <a:latin typeface="inherit"/>
              </a:rPr>
              <a:t>Hi-Hat </a:t>
            </a:r>
            <a:r>
              <a:rPr lang="zh-TW" altLang="en-US" sz="2400" b="0" i="0" dirty="0">
                <a:effectLst/>
                <a:latin typeface="inherit"/>
              </a:rPr>
              <a:t>鈸邊 </a:t>
            </a:r>
            <a:r>
              <a:rPr lang="en-US" altLang="zh-TW" sz="2400" b="0" i="0" dirty="0">
                <a:effectLst/>
                <a:latin typeface="inherit"/>
              </a:rPr>
              <a:t>(Hi-Hat Edge): 46 (A#1)</a:t>
            </a:r>
          </a:p>
          <a:p>
            <a:pPr algn="l" fontAlgn="base"/>
            <a:r>
              <a:rPr lang="en-US" altLang="zh-TW" sz="2400" b="0" i="0" dirty="0">
                <a:effectLst/>
                <a:latin typeface="inherit"/>
              </a:rPr>
              <a:t>Hi-Hat </a:t>
            </a:r>
            <a:r>
              <a:rPr lang="zh-TW" altLang="en-US" sz="2400" b="0" i="0" dirty="0">
                <a:effectLst/>
                <a:latin typeface="inherit"/>
              </a:rPr>
              <a:t>腳踏開合 </a:t>
            </a:r>
            <a:r>
              <a:rPr lang="en-US" altLang="zh-TW" sz="2400" b="0" i="0" dirty="0">
                <a:effectLst/>
                <a:latin typeface="inherit"/>
              </a:rPr>
              <a:t>(Hi-Hat Foot Splash/Control): 44 (G#1)</a:t>
            </a:r>
          </a:p>
          <a:p>
            <a:pPr algn="l" fontAlgn="base"/>
            <a:r>
              <a:rPr lang="en-US" altLang="zh-TW" sz="2400" b="0" i="0" dirty="0">
                <a:effectLst/>
                <a:latin typeface="inherit"/>
              </a:rPr>
              <a:t>Crash 1 </a:t>
            </a:r>
            <a:r>
              <a:rPr lang="zh-TW" altLang="en-US" sz="2400" b="0" i="0" dirty="0">
                <a:effectLst/>
                <a:latin typeface="inherit"/>
              </a:rPr>
              <a:t>雙區鈸 </a:t>
            </a:r>
            <a:r>
              <a:rPr lang="en-US" altLang="zh-TW" sz="2400" b="0" i="0" dirty="0">
                <a:effectLst/>
                <a:latin typeface="inherit"/>
              </a:rPr>
              <a:t>(Bow/Edge): 49 (C#2)</a:t>
            </a:r>
          </a:p>
          <a:p>
            <a:pPr algn="l" fontAlgn="base"/>
            <a:r>
              <a:rPr lang="en-US" altLang="zh-TW" sz="2400" b="0" i="0" dirty="0">
                <a:effectLst/>
                <a:latin typeface="inherit"/>
              </a:rPr>
              <a:t>Ride </a:t>
            </a:r>
            <a:r>
              <a:rPr lang="zh-TW" altLang="en-US" sz="2400" b="0" i="0" dirty="0">
                <a:effectLst/>
                <a:latin typeface="inherit"/>
              </a:rPr>
              <a:t>三區鈸 </a:t>
            </a:r>
            <a:r>
              <a:rPr lang="en-US" altLang="zh-TW" sz="2400" b="0" i="0" dirty="0">
                <a:effectLst/>
                <a:latin typeface="inherit"/>
              </a:rPr>
              <a:t>(Bow/Edge/Bell): 51 (D#1)</a:t>
            </a:r>
          </a:p>
        </p:txBody>
      </p:sp>
    </p:spTree>
    <p:extLst>
      <p:ext uri="{BB962C8B-B14F-4D97-AF65-F5344CB8AC3E}">
        <p14:creationId xmlns:p14="http://schemas.microsoft.com/office/powerpoint/2010/main" val="3820759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C57BF63-512C-0B69-D228-35C939117CC0}"/>
              </a:ext>
            </a:extLst>
          </p:cNvPr>
          <p:cNvSpPr txBox="1"/>
          <p:nvPr/>
        </p:nvSpPr>
        <p:spPr>
          <a:xfrm>
            <a:off x="0" y="0"/>
            <a:ext cx="6765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MIDI</a:t>
            </a:r>
            <a:r>
              <a:rPr lang="zh-TW" altLang="en-US" sz="3600" dirty="0"/>
              <a:t>對照表</a:t>
            </a:r>
            <a:r>
              <a:rPr lang="en-US" altLang="zh-TW" sz="3600" dirty="0"/>
              <a:t>(8/5</a:t>
            </a:r>
            <a:r>
              <a:rPr lang="zh-TW" altLang="en-US" sz="3600" dirty="0"/>
              <a:t>更新</a:t>
            </a:r>
            <a:r>
              <a:rPr lang="en-US" altLang="zh-TW" sz="3600" dirty="0"/>
              <a:t>)</a:t>
            </a:r>
            <a:endParaRPr lang="zh-TW" altLang="en-US" sz="36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9822643-0C5E-4888-6F7B-D3E69D7A6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653299"/>
              </p:ext>
            </p:extLst>
          </p:nvPr>
        </p:nvGraphicFramePr>
        <p:xfrm>
          <a:off x="838200" y="1511211"/>
          <a:ext cx="10515600" cy="29260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41710984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6759806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432675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HoloGrip</a:t>
                      </a:r>
                      <a:r>
                        <a:rPr lang="en-US" dirty="0"/>
                        <a:t> </a:t>
                      </a:r>
                      <a:r>
                        <a:rPr lang="zh-TW" altLang="en-US" dirty="0"/>
                        <a:t>分類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MIDI Note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處理方式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0780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/>
                        <a:t>小鼓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37</a:t>
                      </a:r>
                      <a:r>
                        <a:rPr lang="zh-TW" altLang="en-US"/>
                        <a:t>、</a:t>
                      </a:r>
                      <a:r>
                        <a:rPr lang="en-US" altLang="zh-TW"/>
                        <a:t>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鼓邊與鼓面合併成「小鼓」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891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/>
                        <a:t>高音 </a:t>
                      </a:r>
                      <a:r>
                        <a:rPr lang="en-US"/>
                        <a:t>Tom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獨立分類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3686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/>
                        <a:t>中音 </a:t>
                      </a:r>
                      <a:r>
                        <a:rPr lang="en-US"/>
                        <a:t>Tom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獨立分類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056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/>
                        <a:t>落地 </a:t>
                      </a:r>
                      <a:r>
                        <a:rPr lang="en-US"/>
                        <a:t>Tom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獨立分類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14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Hi-Hat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46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鈸面、鈸邊合併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7226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Crash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49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Bow、Edge </a:t>
                      </a:r>
                      <a:r>
                        <a:rPr lang="zh-TW" altLang="en-US"/>
                        <a:t>合併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0096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Ride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51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獨立分類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988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5945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C57BF63-512C-0B69-D228-35C939117CC0}"/>
              </a:ext>
            </a:extLst>
          </p:cNvPr>
          <p:cNvSpPr txBox="1"/>
          <p:nvPr/>
        </p:nvSpPr>
        <p:spPr>
          <a:xfrm>
            <a:off x="0" y="0"/>
            <a:ext cx="6765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/>
              <a:t>當前計畫相關事宜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BE6F436-FDA0-9C6F-B74D-C5EB8858E2C7}"/>
              </a:ext>
            </a:extLst>
          </p:cNvPr>
          <p:cNvSpPr txBox="1"/>
          <p:nvPr/>
        </p:nvSpPr>
        <p:spPr>
          <a:xfrm>
            <a:off x="0" y="1070401"/>
            <a:ext cx="12192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/>
              <a:t>資料收集時間：按照聘書流程來。</a:t>
            </a:r>
            <a:br>
              <a:rPr lang="en-US" altLang="zh-TW" sz="2400" dirty="0"/>
            </a:br>
            <a:br>
              <a:rPr lang="en-US" altLang="zh-TW" sz="2400" dirty="0"/>
            </a:br>
            <a:r>
              <a:rPr lang="zh-TW" altLang="en-US" sz="2400" dirty="0"/>
              <a:t>打鼓人員：兩位，</a:t>
            </a:r>
            <a:r>
              <a:rPr lang="en-US" altLang="zh-TW" sz="2400" dirty="0"/>
              <a:t>1</a:t>
            </a:r>
            <a:r>
              <a:rPr lang="zh-TW" altLang="en-US" sz="2400" dirty="0"/>
              <a:t>周</a:t>
            </a:r>
            <a:r>
              <a:rPr lang="en-US" altLang="zh-TW" sz="2400" dirty="0"/>
              <a:t>1</a:t>
            </a:r>
            <a:r>
              <a:rPr lang="zh-TW" altLang="en-US" sz="2400" dirty="0"/>
              <a:t>次，</a:t>
            </a:r>
            <a:r>
              <a:rPr lang="en-US" altLang="zh-TW" sz="2400" dirty="0"/>
              <a:t>1</a:t>
            </a:r>
            <a:r>
              <a:rPr lang="zh-TW" altLang="en-US" sz="2400" dirty="0"/>
              <a:t>個月</a:t>
            </a:r>
            <a:r>
              <a:rPr lang="en-US" altLang="zh-TW" sz="2400" dirty="0"/>
              <a:t>4</a:t>
            </a:r>
            <a:r>
              <a:rPr lang="zh-TW" altLang="en-US" sz="2400" dirty="0"/>
              <a:t>次。</a:t>
            </a:r>
            <a:r>
              <a:rPr lang="en-US" altLang="zh-TW" sz="2400" dirty="0"/>
              <a:t>1</a:t>
            </a:r>
            <a:r>
              <a:rPr lang="zh-TW" altLang="en-US" sz="2400" dirty="0"/>
              <a:t>次</a:t>
            </a:r>
            <a:r>
              <a:rPr lang="en-US" altLang="zh-TW" sz="2400" dirty="0"/>
              <a:t>3</a:t>
            </a:r>
            <a:r>
              <a:rPr lang="zh-TW" altLang="en-US" sz="2400" dirty="0"/>
              <a:t>小時時間。有需要再加</a:t>
            </a:r>
            <a:br>
              <a:rPr lang="en-US" altLang="zh-TW" sz="2400" dirty="0"/>
            </a:br>
            <a:br>
              <a:rPr lang="en-US" altLang="zh-TW" sz="2400" dirty="0"/>
            </a:br>
            <a:r>
              <a:rPr lang="zh-TW" altLang="en-US" sz="2400" dirty="0"/>
              <a:t>電子股打鼓</a:t>
            </a:r>
            <a:r>
              <a:rPr lang="en-US" altLang="zh-TW" sz="2400" dirty="0"/>
              <a:t>+</a:t>
            </a:r>
            <a:r>
              <a:rPr lang="zh-TW" altLang="en-US" sz="2400" dirty="0"/>
              <a:t>產生</a:t>
            </a:r>
            <a:r>
              <a:rPr lang="en-US" altLang="zh-TW" sz="2400" dirty="0"/>
              <a:t>MIDI</a:t>
            </a:r>
            <a:r>
              <a:rPr lang="zh-TW" altLang="en-US" sz="2400" dirty="0"/>
              <a:t>的教學：請以諾老師教授交接學生相關知識。</a:t>
            </a:r>
            <a:br>
              <a:rPr lang="en-US" altLang="zh-TW" sz="2400" dirty="0"/>
            </a:br>
            <a:br>
              <a:rPr lang="en-US" altLang="zh-TW" sz="2400" dirty="0"/>
            </a:br>
            <a:r>
              <a:rPr lang="zh-TW" altLang="en-US" sz="2400" dirty="0"/>
              <a:t>當前收集人員：打鼓同學</a:t>
            </a:r>
            <a:r>
              <a:rPr lang="en-US" altLang="zh-TW" sz="2400" dirty="0"/>
              <a:t>+</a:t>
            </a:r>
            <a:r>
              <a:rPr lang="zh-TW" altLang="en-US" sz="2400" dirty="0"/>
              <a:t>電子系同學</a:t>
            </a:r>
            <a:r>
              <a:rPr lang="en-US" altLang="zh-TW" sz="2400" dirty="0"/>
              <a:t>(</a:t>
            </a:r>
            <a:r>
              <a:rPr lang="zh-TW" altLang="en-US" sz="2400" dirty="0"/>
              <a:t>操作資料收集程式</a:t>
            </a:r>
            <a:r>
              <a:rPr lang="en-US" altLang="zh-TW" sz="2400" dirty="0"/>
              <a:t>)</a:t>
            </a:r>
            <a:r>
              <a:rPr lang="zh-TW" altLang="en-US" sz="2400" dirty="0"/>
              <a:t>。</a:t>
            </a:r>
            <a:endParaRPr lang="en-US" altLang="zh-TW" sz="2400" dirty="0"/>
          </a:p>
          <a:p>
            <a:endParaRPr lang="en-US" altLang="zh-TW" sz="2400" dirty="0"/>
          </a:p>
          <a:p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96975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629</Words>
  <Application>Microsoft Office PowerPoint</Application>
  <PresentationFormat>寬螢幕</PresentationFormat>
  <Paragraphs>63</Paragraphs>
  <Slides>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inherit</vt:lpstr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 Type</dc:creator>
  <cp:lastModifiedBy>lin Type</cp:lastModifiedBy>
  <cp:revision>6</cp:revision>
  <dcterms:created xsi:type="dcterms:W3CDTF">2026-09-17T14:29:33Z</dcterms:created>
  <dcterms:modified xsi:type="dcterms:W3CDTF">2026-09-18T09:21:00Z</dcterms:modified>
</cp:coreProperties>
</file>